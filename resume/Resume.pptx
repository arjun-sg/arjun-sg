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DM Sans Bold" charset="1" panose="00000000000000000000"/>
      <p:regular r:id="rId7"/>
    </p:embeddedFont>
    <p:embeddedFont>
      <p:font typeface="DM Sans" charset="1" panose="000000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linkedin.com/in/arjun-s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649900" y="717900"/>
            <a:ext cx="2889735" cy="273685"/>
          </a:xfrm>
          <a:prstGeom prst="rect">
            <a:avLst/>
          </a:prstGeom>
        </p:spPr>
        <p:txBody>
          <a:bodyPr anchor="t" rtlCol="false" tIns="0" lIns="0" bIns="0" rIns="0">
            <a:spAutoFit/>
          </a:bodyPr>
          <a:lstStyle/>
          <a:p>
            <a:pPr algn="l">
              <a:lnSpc>
                <a:spcPts val="2240"/>
              </a:lnSpc>
            </a:pPr>
            <a:r>
              <a:rPr lang="en-US" sz="1600" spc="32" b="true">
                <a:solidFill>
                  <a:srgbClr val="164C78"/>
                </a:solidFill>
                <a:latin typeface="DM Sans Bold"/>
                <a:ea typeface="DM Sans Bold"/>
                <a:cs typeface="DM Sans Bold"/>
                <a:sym typeface="DM Sans Bold"/>
              </a:rPr>
              <a:t>Arjun S G</a:t>
            </a:r>
          </a:p>
        </p:txBody>
      </p:sp>
      <p:sp>
        <p:nvSpPr>
          <p:cNvPr name="TextBox 3" id="3"/>
          <p:cNvSpPr txBox="true"/>
          <p:nvPr/>
        </p:nvSpPr>
        <p:spPr>
          <a:xfrm rot="0">
            <a:off x="652089" y="1010635"/>
            <a:ext cx="6230189" cy="134200"/>
          </a:xfrm>
          <a:prstGeom prst="rect">
            <a:avLst/>
          </a:prstGeom>
        </p:spPr>
        <p:txBody>
          <a:bodyPr anchor="t" rtlCol="false" tIns="0" lIns="0" bIns="0" rIns="0">
            <a:spAutoFit/>
          </a:bodyPr>
          <a:lstStyle/>
          <a:p>
            <a:pPr algn="l">
              <a:lnSpc>
                <a:spcPts val="1120"/>
              </a:lnSpc>
            </a:pPr>
            <a:r>
              <a:rPr lang="en-US" sz="800" spc="8">
                <a:solidFill>
                  <a:srgbClr val="164C78"/>
                </a:solidFill>
                <a:latin typeface="DM Sans"/>
                <a:ea typeface="DM Sans"/>
                <a:cs typeface="DM Sans"/>
                <a:sym typeface="DM Sans"/>
              </a:rPr>
              <a:t>Analytics Professional | Excel | SQL | Power BI | Python | 6.5 Years of Payroll Domain Experience</a:t>
            </a:r>
          </a:p>
        </p:txBody>
      </p:sp>
      <p:sp>
        <p:nvSpPr>
          <p:cNvPr name="TextBox 4" id="4"/>
          <p:cNvSpPr txBox="true"/>
          <p:nvPr/>
        </p:nvSpPr>
        <p:spPr>
          <a:xfrm rot="0">
            <a:off x="649900" y="1165985"/>
            <a:ext cx="6232378" cy="134199"/>
          </a:xfrm>
          <a:prstGeom prst="rect">
            <a:avLst/>
          </a:prstGeom>
        </p:spPr>
        <p:txBody>
          <a:bodyPr anchor="t" rtlCol="false" tIns="0" lIns="0" bIns="0" rIns="0">
            <a:spAutoFit/>
          </a:bodyPr>
          <a:lstStyle/>
          <a:p>
            <a:pPr algn="just">
              <a:lnSpc>
                <a:spcPts val="1120"/>
              </a:lnSpc>
            </a:pPr>
            <a:r>
              <a:rPr lang="en-US" sz="800" spc="8">
                <a:solidFill>
                  <a:srgbClr val="262626"/>
                </a:solidFill>
                <a:latin typeface="DM Sans"/>
                <a:ea typeface="DM Sans"/>
                <a:cs typeface="DM Sans"/>
                <a:sym typeface="DM Sans"/>
              </a:rPr>
              <a:t>sgarjunsg07@gmail.com | 9994084816 | Kumbakonam | </a:t>
            </a:r>
            <a:r>
              <a:rPr lang="en-US" sz="800" spc="8" u="sng">
                <a:solidFill>
                  <a:srgbClr val="262626"/>
                </a:solidFill>
                <a:latin typeface="DM Sans"/>
                <a:ea typeface="DM Sans"/>
                <a:cs typeface="DM Sans"/>
                <a:sym typeface="DM Sans"/>
                <a:hlinkClick r:id="rId2" tooltip="https://www.linkedin.com/in/arjun-sg/"/>
              </a:rPr>
              <a:t>https://www.linkedin.com/in/arjun-sg</a:t>
            </a:r>
          </a:p>
        </p:txBody>
      </p:sp>
      <p:sp>
        <p:nvSpPr>
          <p:cNvPr name="TextBox 5" id="5"/>
          <p:cNvSpPr txBox="true"/>
          <p:nvPr/>
        </p:nvSpPr>
        <p:spPr>
          <a:xfrm rot="0">
            <a:off x="649900" y="1383809"/>
            <a:ext cx="1954065" cy="174624"/>
          </a:xfrm>
          <a:prstGeom prst="rect">
            <a:avLst/>
          </a:prstGeom>
        </p:spPr>
        <p:txBody>
          <a:bodyPr anchor="t" rtlCol="false" tIns="0" lIns="0" bIns="0" rIns="0">
            <a:spAutoFit/>
          </a:bodyPr>
          <a:lstStyle/>
          <a:p>
            <a:pPr algn="l">
              <a:lnSpc>
                <a:spcPts val="1400"/>
              </a:lnSpc>
            </a:pPr>
            <a:r>
              <a:rPr lang="en-US" b="true" sz="1000" spc="10">
                <a:solidFill>
                  <a:srgbClr val="164C78"/>
                </a:solidFill>
                <a:latin typeface="DM Sans Bold"/>
                <a:ea typeface="DM Sans Bold"/>
                <a:cs typeface="DM Sans Bold"/>
                <a:sym typeface="DM Sans Bold"/>
              </a:rPr>
              <a:t>CAREER SUMMARY:</a:t>
            </a:r>
          </a:p>
        </p:txBody>
      </p:sp>
      <p:sp>
        <p:nvSpPr>
          <p:cNvPr name="TextBox 6" id="6"/>
          <p:cNvSpPr txBox="true"/>
          <p:nvPr/>
        </p:nvSpPr>
        <p:spPr>
          <a:xfrm rot="0">
            <a:off x="777544" y="1606059"/>
            <a:ext cx="6132556" cy="676078"/>
          </a:xfrm>
          <a:prstGeom prst="rect">
            <a:avLst/>
          </a:prstGeom>
        </p:spPr>
        <p:txBody>
          <a:bodyPr anchor="t" rtlCol="false" tIns="0" lIns="0" bIns="0" rIns="0">
            <a:spAutoFit/>
          </a:bodyPr>
          <a:lstStyle/>
          <a:p>
            <a:pPr algn="l">
              <a:lnSpc>
                <a:spcPts val="1120"/>
              </a:lnSpc>
            </a:pPr>
            <a:r>
              <a:rPr lang="en-US" sz="800" spc="8">
                <a:solidFill>
                  <a:srgbClr val="262626"/>
                </a:solidFill>
                <a:latin typeface="DM Sans"/>
                <a:ea typeface="DM Sans"/>
                <a:cs typeface="DM Sans"/>
                <a:sym typeface="DM Sans"/>
              </a:rPr>
              <a:t>Analytics professional with 6 years of experience analyzing payroll and HR data across 15 clients. Proficient in Advanced Excel, SQL, Power BI, and Python for data extraction, cleaning, transformation, analysis, modelling, and visualization. Experienced in building end-to-end data analytics solutions that support data-driven business decisions. Passionate about transforming complex business data into meaningful insights through interactive dashboards, exploratory data analysis, and analytical reporting.</a:t>
            </a:r>
          </a:p>
        </p:txBody>
      </p:sp>
      <p:sp>
        <p:nvSpPr>
          <p:cNvPr name="TextBox 7" id="7"/>
          <p:cNvSpPr txBox="true"/>
          <p:nvPr/>
        </p:nvSpPr>
        <p:spPr>
          <a:xfrm rot="0">
            <a:off x="749722" y="2552011"/>
            <a:ext cx="2962367" cy="148590"/>
          </a:xfrm>
          <a:prstGeom prst="rect">
            <a:avLst/>
          </a:prstGeom>
        </p:spPr>
        <p:txBody>
          <a:bodyPr anchor="t" rtlCol="false" tIns="0" lIns="0" bIns="0" rIns="0">
            <a:spAutoFit/>
          </a:bodyPr>
          <a:lstStyle/>
          <a:p>
            <a:pPr algn="l">
              <a:lnSpc>
                <a:spcPts val="1260"/>
              </a:lnSpc>
            </a:pPr>
            <a:r>
              <a:rPr lang="en-US" sz="900" spc="9" b="true">
                <a:solidFill>
                  <a:srgbClr val="262626"/>
                </a:solidFill>
                <a:latin typeface="DM Sans Bold"/>
                <a:ea typeface="DM Sans Bold"/>
                <a:cs typeface="DM Sans Bold"/>
                <a:sym typeface="DM Sans Bold"/>
              </a:rPr>
              <a:t>ADP India Private Limited</a:t>
            </a:r>
          </a:p>
        </p:txBody>
      </p:sp>
      <p:sp>
        <p:nvSpPr>
          <p:cNvPr name="TextBox 8" id="8"/>
          <p:cNvSpPr txBox="true"/>
          <p:nvPr/>
        </p:nvSpPr>
        <p:spPr>
          <a:xfrm rot="0">
            <a:off x="777544" y="2719651"/>
            <a:ext cx="4489146" cy="134199"/>
          </a:xfrm>
          <a:prstGeom prst="rect">
            <a:avLst/>
          </a:prstGeom>
        </p:spPr>
        <p:txBody>
          <a:bodyPr anchor="t" rtlCol="false" tIns="0" lIns="0" bIns="0" rIns="0">
            <a:spAutoFit/>
          </a:bodyPr>
          <a:lstStyle/>
          <a:p>
            <a:pPr algn="l">
              <a:lnSpc>
                <a:spcPts val="1120"/>
              </a:lnSpc>
            </a:pPr>
            <a:r>
              <a:rPr lang="en-US" sz="800" spc="8" b="true">
                <a:solidFill>
                  <a:srgbClr val="262626"/>
                </a:solidFill>
                <a:latin typeface="DM Sans Bold"/>
                <a:ea typeface="DM Sans Bold"/>
                <a:cs typeface="DM Sans Bold"/>
                <a:sym typeface="DM Sans Bold"/>
              </a:rPr>
              <a:t>Senior Specialist - Service Delivery |  April, 2026 - Present</a:t>
            </a:r>
          </a:p>
        </p:txBody>
      </p:sp>
      <p:sp>
        <p:nvSpPr>
          <p:cNvPr name="TextBox 9" id="9"/>
          <p:cNvSpPr txBox="true"/>
          <p:nvPr/>
        </p:nvSpPr>
        <p:spPr>
          <a:xfrm rot="0">
            <a:off x="809455" y="2872900"/>
            <a:ext cx="6068734" cy="1082487"/>
          </a:xfrm>
          <a:prstGeom prst="rect">
            <a:avLst/>
          </a:prstGeom>
        </p:spPr>
        <p:txBody>
          <a:bodyPr anchor="t" rtlCol="false" tIns="0" lIns="0" bIns="0" rIns="0">
            <a:spAutoFit/>
          </a:bodyPr>
          <a:lstStyle/>
          <a:p>
            <a:pPr algn="l" marL="172724" indent="-86362" lvl="1">
              <a:lnSpc>
                <a:spcPts val="1120"/>
              </a:lnSpc>
              <a:buFont typeface="Arial"/>
              <a:buChar char="•"/>
            </a:pPr>
            <a:r>
              <a:rPr lang="en-US" sz="800" spc="8">
                <a:solidFill>
                  <a:srgbClr val="262626"/>
                </a:solidFill>
                <a:latin typeface="DM Sans"/>
                <a:ea typeface="DM Sans"/>
                <a:cs typeface="DM Sans"/>
                <a:sym typeface="DM Sans"/>
              </a:rPr>
              <a:t>Analyzed and validated payroll data using Advanced Excel to identify discrepancies, perform variance analysis, and ensure accurate salary calculations before payroll processing.</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Generated and reviewed payroll, statutory, and fund estimation reports by transforming payroll data into accurate, business-ready reports for clients and internal stakeholders.</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Performed data reconciliation and quality checks by comparing monthly payroll reports, investigating exceptions, and resolving data inconsistencies to improve reporting accuracy and compliance.</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Executed end-to-end payroll processing on the ADP platform while collaborating with clients to resolve payroll queries and deliver payroll within defined service-level timelines.</a:t>
            </a:r>
          </a:p>
        </p:txBody>
      </p:sp>
      <p:sp>
        <p:nvSpPr>
          <p:cNvPr name="TextBox 10" id="10"/>
          <p:cNvSpPr txBox="true"/>
          <p:nvPr/>
        </p:nvSpPr>
        <p:spPr>
          <a:xfrm rot="0">
            <a:off x="749722" y="3974436"/>
            <a:ext cx="2900734" cy="148590"/>
          </a:xfrm>
          <a:prstGeom prst="rect">
            <a:avLst/>
          </a:prstGeom>
        </p:spPr>
        <p:txBody>
          <a:bodyPr anchor="t" rtlCol="false" tIns="0" lIns="0" bIns="0" rIns="0">
            <a:spAutoFit/>
          </a:bodyPr>
          <a:lstStyle/>
          <a:p>
            <a:pPr algn="l">
              <a:lnSpc>
                <a:spcPts val="1260"/>
              </a:lnSpc>
            </a:pPr>
            <a:r>
              <a:rPr lang="en-US" sz="900" spc="9" b="true">
                <a:solidFill>
                  <a:srgbClr val="262626"/>
                </a:solidFill>
                <a:latin typeface="DM Sans Bold"/>
                <a:ea typeface="DM Sans Bold"/>
                <a:cs typeface="DM Sans Bold"/>
                <a:sym typeface="DM Sans Bold"/>
              </a:rPr>
              <a:t>Hinote Systems Private Limited</a:t>
            </a:r>
          </a:p>
        </p:txBody>
      </p:sp>
      <p:sp>
        <p:nvSpPr>
          <p:cNvPr name="TextBox 11" id="11"/>
          <p:cNvSpPr txBox="true"/>
          <p:nvPr/>
        </p:nvSpPr>
        <p:spPr>
          <a:xfrm rot="0">
            <a:off x="777544" y="4142076"/>
            <a:ext cx="4684051" cy="134199"/>
          </a:xfrm>
          <a:prstGeom prst="rect">
            <a:avLst/>
          </a:prstGeom>
        </p:spPr>
        <p:txBody>
          <a:bodyPr anchor="t" rtlCol="false" tIns="0" lIns="0" bIns="0" rIns="0">
            <a:spAutoFit/>
          </a:bodyPr>
          <a:lstStyle/>
          <a:p>
            <a:pPr algn="l">
              <a:lnSpc>
                <a:spcPts val="1120"/>
              </a:lnSpc>
            </a:pPr>
            <a:r>
              <a:rPr lang="en-US" sz="800" spc="8" b="true">
                <a:solidFill>
                  <a:srgbClr val="262626"/>
                </a:solidFill>
                <a:latin typeface="DM Sans Bold"/>
                <a:ea typeface="DM Sans Bold"/>
                <a:cs typeface="DM Sans Bold"/>
                <a:sym typeface="DM Sans Bold"/>
              </a:rPr>
              <a:t>Senior Process Executive (Payroll) | December 2019 - March 2026</a:t>
            </a:r>
          </a:p>
        </p:txBody>
      </p:sp>
      <p:sp>
        <p:nvSpPr>
          <p:cNvPr name="TextBox 12" id="12"/>
          <p:cNvSpPr txBox="true"/>
          <p:nvPr/>
        </p:nvSpPr>
        <p:spPr>
          <a:xfrm rot="0">
            <a:off x="809455" y="4295325"/>
            <a:ext cx="6068734" cy="811547"/>
          </a:xfrm>
          <a:prstGeom prst="rect">
            <a:avLst/>
          </a:prstGeom>
        </p:spPr>
        <p:txBody>
          <a:bodyPr anchor="t" rtlCol="false" tIns="0" lIns="0" bIns="0" rIns="0">
            <a:spAutoFit/>
          </a:bodyPr>
          <a:lstStyle/>
          <a:p>
            <a:pPr algn="l" marL="172724" indent="-86362" lvl="1">
              <a:lnSpc>
                <a:spcPts val="1120"/>
              </a:lnSpc>
              <a:buFont typeface="Arial"/>
              <a:buChar char="•"/>
            </a:pPr>
            <a:r>
              <a:rPr lang="en-US" sz="800" spc="8">
                <a:solidFill>
                  <a:srgbClr val="262626"/>
                </a:solidFill>
                <a:latin typeface="DM Sans"/>
                <a:ea typeface="DM Sans"/>
                <a:cs typeface="DM Sans"/>
                <a:sym typeface="DM Sans"/>
              </a:rPr>
              <a:t>Analyzed payroll and HR data for 1,500+ employees across 15 client organizations, achieving 99.9% payroll accuracy through data validation, variance analysis, and reconciliation using Advanced Excel.</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Prepared payroll MIS, statutory, audit, and compliance reports by validating and interpreting payroll data, identifying discrepancies in tax calculations, employee records, and statutory deductions before payroll execution.</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Managed end-to-end payroll processing and statutory compliance (PF, ESIC, PT, TDS), while collaborating with cross-functional teams to perform UAT, resolve payroll issues, and deliver accurate payroll within defined timelines.</a:t>
            </a:r>
          </a:p>
        </p:txBody>
      </p:sp>
      <p:sp>
        <p:nvSpPr>
          <p:cNvPr name="TextBox 13" id="13"/>
          <p:cNvSpPr txBox="true"/>
          <p:nvPr/>
        </p:nvSpPr>
        <p:spPr>
          <a:xfrm rot="0">
            <a:off x="777544" y="5367222"/>
            <a:ext cx="4489146" cy="134199"/>
          </a:xfrm>
          <a:prstGeom prst="rect">
            <a:avLst/>
          </a:prstGeom>
        </p:spPr>
        <p:txBody>
          <a:bodyPr anchor="t" rtlCol="false" tIns="0" lIns="0" bIns="0" rIns="0">
            <a:spAutoFit/>
          </a:bodyPr>
          <a:lstStyle/>
          <a:p>
            <a:pPr algn="l">
              <a:lnSpc>
                <a:spcPts val="1120"/>
              </a:lnSpc>
            </a:pPr>
            <a:r>
              <a:rPr lang="en-US" sz="800" spc="8" b="true">
                <a:solidFill>
                  <a:srgbClr val="262626"/>
                </a:solidFill>
                <a:latin typeface="DM Sans Bold"/>
                <a:ea typeface="DM Sans Bold"/>
                <a:cs typeface="DM Sans Bold"/>
                <a:sym typeface="DM Sans Bold"/>
              </a:rPr>
              <a:t>HR Analytics Dashboard using Microsoft Excel</a:t>
            </a:r>
          </a:p>
        </p:txBody>
      </p:sp>
      <p:sp>
        <p:nvSpPr>
          <p:cNvPr name="TextBox 14" id="14"/>
          <p:cNvSpPr txBox="true"/>
          <p:nvPr/>
        </p:nvSpPr>
        <p:spPr>
          <a:xfrm rot="0">
            <a:off x="809455" y="5520471"/>
            <a:ext cx="6068734" cy="540608"/>
          </a:xfrm>
          <a:prstGeom prst="rect">
            <a:avLst/>
          </a:prstGeom>
        </p:spPr>
        <p:txBody>
          <a:bodyPr anchor="t" rtlCol="false" tIns="0" lIns="0" bIns="0" rIns="0">
            <a:spAutoFit/>
          </a:bodyPr>
          <a:lstStyle/>
          <a:p>
            <a:pPr algn="l" marL="172724" indent="-86362" lvl="1">
              <a:lnSpc>
                <a:spcPts val="1120"/>
              </a:lnSpc>
              <a:buFont typeface="Arial"/>
              <a:buChar char="•"/>
            </a:pPr>
            <a:r>
              <a:rPr lang="en-US" sz="800" spc="8">
                <a:solidFill>
                  <a:srgbClr val="262626"/>
                </a:solidFill>
                <a:latin typeface="DM Sans"/>
                <a:ea typeface="DM Sans"/>
                <a:cs typeface="DM Sans"/>
                <a:sym typeface="DM Sans"/>
              </a:rPr>
              <a:t>Built an interactive HR Analytics dashboard using Advanced Excel, Pivot Tables, Power Query, charts, slicers, and advanced formulas to visualize workforce KPIs and automate reporting.</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Analyzed employee data to track headcount, attrition, gender ratio, salary trends, department-wise distribution, and employee demographics, enabling data-driven decision-making.</a:t>
            </a:r>
          </a:p>
        </p:txBody>
      </p:sp>
      <p:sp>
        <p:nvSpPr>
          <p:cNvPr name="TextBox 15" id="15"/>
          <p:cNvSpPr txBox="true"/>
          <p:nvPr/>
        </p:nvSpPr>
        <p:spPr>
          <a:xfrm rot="0">
            <a:off x="777544" y="7389931"/>
            <a:ext cx="4489146" cy="140633"/>
          </a:xfrm>
          <a:prstGeom prst="rect">
            <a:avLst/>
          </a:prstGeom>
        </p:spPr>
        <p:txBody>
          <a:bodyPr anchor="t" rtlCol="false" tIns="0" lIns="0" bIns="0" rIns="0">
            <a:spAutoFit/>
          </a:bodyPr>
          <a:lstStyle/>
          <a:p>
            <a:pPr algn="l">
              <a:lnSpc>
                <a:spcPts val="1136"/>
              </a:lnSpc>
            </a:pPr>
            <a:r>
              <a:rPr lang="en-US" sz="800" spc="8">
                <a:solidFill>
                  <a:srgbClr val="262626"/>
                </a:solidFill>
                <a:latin typeface="DM Sans"/>
                <a:ea typeface="DM Sans"/>
                <a:cs typeface="DM Sans"/>
                <a:sym typeface="DM Sans"/>
              </a:rPr>
              <a:t>Bachelor of Commerce | CGPA: 6.83</a:t>
            </a:r>
          </a:p>
        </p:txBody>
      </p:sp>
      <p:sp>
        <p:nvSpPr>
          <p:cNvPr name="TextBox 16" id="16"/>
          <p:cNvSpPr txBox="true"/>
          <p:nvPr/>
        </p:nvSpPr>
        <p:spPr>
          <a:xfrm rot="0">
            <a:off x="777544" y="7258824"/>
            <a:ext cx="4489146" cy="140633"/>
          </a:xfrm>
          <a:prstGeom prst="rect">
            <a:avLst/>
          </a:prstGeom>
        </p:spPr>
        <p:txBody>
          <a:bodyPr anchor="t" rtlCol="false" tIns="0" lIns="0" bIns="0" rIns="0">
            <a:spAutoFit/>
          </a:bodyPr>
          <a:lstStyle/>
          <a:p>
            <a:pPr algn="l">
              <a:lnSpc>
                <a:spcPts val="1136"/>
              </a:lnSpc>
            </a:pPr>
            <a:r>
              <a:rPr lang="en-US" sz="800" spc="8">
                <a:solidFill>
                  <a:srgbClr val="262626"/>
                </a:solidFill>
                <a:latin typeface="DM Sans"/>
                <a:ea typeface="DM Sans"/>
                <a:cs typeface="DM Sans"/>
                <a:sym typeface="DM Sans"/>
              </a:rPr>
              <a:t>2016 - 2019 | SASTRA Deemed to be University, Kumbakonam</a:t>
            </a:r>
          </a:p>
        </p:txBody>
      </p:sp>
      <p:sp>
        <p:nvSpPr>
          <p:cNvPr name="TextBox 17" id="17"/>
          <p:cNvSpPr txBox="true"/>
          <p:nvPr/>
        </p:nvSpPr>
        <p:spPr>
          <a:xfrm rot="0">
            <a:off x="813544" y="7809964"/>
            <a:ext cx="5924734" cy="540608"/>
          </a:xfrm>
          <a:prstGeom prst="rect">
            <a:avLst/>
          </a:prstGeom>
        </p:spPr>
        <p:txBody>
          <a:bodyPr anchor="t" rtlCol="false" tIns="0" lIns="0" bIns="0" rIns="0">
            <a:spAutoFit/>
          </a:bodyPr>
          <a:lstStyle/>
          <a:p>
            <a:pPr algn="l" marL="172724" indent="-86362" lvl="1">
              <a:lnSpc>
                <a:spcPts val="1120"/>
              </a:lnSpc>
              <a:buFont typeface="Arial"/>
              <a:buChar char="•"/>
            </a:pPr>
            <a:r>
              <a:rPr lang="en-US" sz="800" spc="8">
                <a:solidFill>
                  <a:srgbClr val="262626"/>
                </a:solidFill>
                <a:latin typeface="DM Sans"/>
                <a:ea typeface="DM Sans"/>
                <a:cs typeface="DM Sans"/>
                <a:sym typeface="DM Sans"/>
              </a:rPr>
              <a:t>Advanced Excel | Pivot Tables, Power Query, XLOOKUP, INDEX-MATCH, Conditional Formatting, Dashboard Development</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SQL | Joins, Subqueries, CTEs, Window Functions, Views, Stored Procedures, CASE Statements, Aggregate Functions</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Power BI | Power Query, Data Modelling, DAX, Interactive Dashboards, Data Visualization, Slicers</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Python | Numpy, Pandas, Matplotlib, Seaborn, File handling, Exception handling </a:t>
            </a:r>
          </a:p>
        </p:txBody>
      </p:sp>
      <p:sp>
        <p:nvSpPr>
          <p:cNvPr name="AutoShape 18" id="18"/>
          <p:cNvSpPr/>
          <p:nvPr/>
        </p:nvSpPr>
        <p:spPr>
          <a:xfrm>
            <a:off x="652089" y="1577484"/>
            <a:ext cx="6230189" cy="0"/>
          </a:xfrm>
          <a:prstGeom prst="line">
            <a:avLst/>
          </a:prstGeom>
          <a:ln cap="flat" w="19050">
            <a:solidFill>
              <a:srgbClr val="97BBD9"/>
            </a:solidFill>
            <a:prstDash val="solid"/>
            <a:headEnd type="none" len="sm" w="sm"/>
            <a:tailEnd type="none" len="sm" w="sm"/>
          </a:ln>
        </p:spPr>
      </p:sp>
      <p:sp>
        <p:nvSpPr>
          <p:cNvPr name="TextBox 19" id="19"/>
          <p:cNvSpPr txBox="true"/>
          <p:nvPr/>
        </p:nvSpPr>
        <p:spPr>
          <a:xfrm rot="0">
            <a:off x="649900" y="2329762"/>
            <a:ext cx="1949686" cy="174624"/>
          </a:xfrm>
          <a:prstGeom prst="rect">
            <a:avLst/>
          </a:prstGeom>
        </p:spPr>
        <p:txBody>
          <a:bodyPr anchor="t" rtlCol="false" tIns="0" lIns="0" bIns="0" rIns="0">
            <a:spAutoFit/>
          </a:bodyPr>
          <a:lstStyle/>
          <a:p>
            <a:pPr algn="l">
              <a:lnSpc>
                <a:spcPts val="1400"/>
              </a:lnSpc>
            </a:pPr>
            <a:r>
              <a:rPr lang="en-US" b="true" sz="1000" spc="10">
                <a:solidFill>
                  <a:srgbClr val="164C78"/>
                </a:solidFill>
                <a:latin typeface="DM Sans Bold"/>
                <a:ea typeface="DM Sans Bold"/>
                <a:cs typeface="DM Sans Bold"/>
                <a:sym typeface="DM Sans Bold"/>
              </a:rPr>
              <a:t>WORK EXPERIENCE:</a:t>
            </a:r>
          </a:p>
        </p:txBody>
      </p:sp>
      <p:sp>
        <p:nvSpPr>
          <p:cNvPr name="AutoShape 20" id="20"/>
          <p:cNvSpPr/>
          <p:nvPr/>
        </p:nvSpPr>
        <p:spPr>
          <a:xfrm>
            <a:off x="652089" y="2523436"/>
            <a:ext cx="6230189" cy="0"/>
          </a:xfrm>
          <a:prstGeom prst="line">
            <a:avLst/>
          </a:prstGeom>
          <a:ln cap="flat" w="19050">
            <a:solidFill>
              <a:srgbClr val="97BBD9"/>
            </a:solidFill>
            <a:prstDash val="solid"/>
            <a:headEnd type="none" len="sm" w="sm"/>
            <a:tailEnd type="none" len="sm" w="sm"/>
          </a:ln>
        </p:spPr>
      </p:sp>
      <p:sp>
        <p:nvSpPr>
          <p:cNvPr name="TextBox 21" id="21"/>
          <p:cNvSpPr txBox="true"/>
          <p:nvPr/>
        </p:nvSpPr>
        <p:spPr>
          <a:xfrm rot="0">
            <a:off x="652089" y="5144973"/>
            <a:ext cx="2250320" cy="174624"/>
          </a:xfrm>
          <a:prstGeom prst="rect">
            <a:avLst/>
          </a:prstGeom>
        </p:spPr>
        <p:txBody>
          <a:bodyPr anchor="t" rtlCol="false" tIns="0" lIns="0" bIns="0" rIns="0">
            <a:spAutoFit/>
          </a:bodyPr>
          <a:lstStyle/>
          <a:p>
            <a:pPr algn="l">
              <a:lnSpc>
                <a:spcPts val="1400"/>
              </a:lnSpc>
            </a:pPr>
            <a:r>
              <a:rPr lang="en-US" b="true" sz="1000" spc="10">
                <a:solidFill>
                  <a:srgbClr val="164C78"/>
                </a:solidFill>
                <a:latin typeface="DM Sans Bold"/>
                <a:ea typeface="DM Sans Bold"/>
                <a:cs typeface="DM Sans Bold"/>
                <a:sym typeface="DM Sans Bold"/>
              </a:rPr>
              <a:t>DATA ANALYTICS PROJECTS:</a:t>
            </a:r>
          </a:p>
        </p:txBody>
      </p:sp>
      <p:sp>
        <p:nvSpPr>
          <p:cNvPr name="AutoShape 22" id="22"/>
          <p:cNvSpPr/>
          <p:nvPr/>
        </p:nvSpPr>
        <p:spPr>
          <a:xfrm>
            <a:off x="652089" y="5338647"/>
            <a:ext cx="6230189" cy="0"/>
          </a:xfrm>
          <a:prstGeom prst="line">
            <a:avLst/>
          </a:prstGeom>
          <a:ln cap="flat" w="19050">
            <a:solidFill>
              <a:srgbClr val="97BBD9"/>
            </a:solidFill>
            <a:prstDash val="solid"/>
            <a:headEnd type="none" len="sm" w="sm"/>
            <a:tailEnd type="none" len="sm" w="sm"/>
          </a:ln>
        </p:spPr>
      </p:sp>
      <p:sp>
        <p:nvSpPr>
          <p:cNvPr name="TextBox 23" id="23"/>
          <p:cNvSpPr txBox="true"/>
          <p:nvPr/>
        </p:nvSpPr>
        <p:spPr>
          <a:xfrm rot="0">
            <a:off x="652089" y="7036574"/>
            <a:ext cx="1954065" cy="174624"/>
          </a:xfrm>
          <a:prstGeom prst="rect">
            <a:avLst/>
          </a:prstGeom>
        </p:spPr>
        <p:txBody>
          <a:bodyPr anchor="t" rtlCol="false" tIns="0" lIns="0" bIns="0" rIns="0">
            <a:spAutoFit/>
          </a:bodyPr>
          <a:lstStyle/>
          <a:p>
            <a:pPr algn="l">
              <a:lnSpc>
                <a:spcPts val="1400"/>
              </a:lnSpc>
            </a:pPr>
            <a:r>
              <a:rPr lang="en-US" b="true" sz="1000" spc="10">
                <a:solidFill>
                  <a:srgbClr val="164C78"/>
                </a:solidFill>
                <a:latin typeface="DM Sans Bold"/>
                <a:ea typeface="DM Sans Bold"/>
                <a:cs typeface="DM Sans Bold"/>
                <a:sym typeface="DM Sans Bold"/>
              </a:rPr>
              <a:t>EDUCATION:</a:t>
            </a:r>
          </a:p>
        </p:txBody>
      </p:sp>
      <p:sp>
        <p:nvSpPr>
          <p:cNvPr name="AutoShape 24" id="24"/>
          <p:cNvSpPr/>
          <p:nvPr/>
        </p:nvSpPr>
        <p:spPr>
          <a:xfrm>
            <a:off x="652089" y="7220724"/>
            <a:ext cx="6204556" cy="0"/>
          </a:xfrm>
          <a:prstGeom prst="line">
            <a:avLst/>
          </a:prstGeom>
          <a:ln cap="flat" w="19050">
            <a:solidFill>
              <a:srgbClr val="97BBD9"/>
            </a:solidFill>
            <a:prstDash val="solid"/>
            <a:headEnd type="none" len="sm" w="sm"/>
            <a:tailEnd type="none" len="sm" w="sm"/>
          </a:ln>
        </p:spPr>
      </p:sp>
      <p:sp>
        <p:nvSpPr>
          <p:cNvPr name="TextBox 25" id="25"/>
          <p:cNvSpPr txBox="true"/>
          <p:nvPr/>
        </p:nvSpPr>
        <p:spPr>
          <a:xfrm rot="0">
            <a:off x="652089" y="7568664"/>
            <a:ext cx="1954065" cy="174624"/>
          </a:xfrm>
          <a:prstGeom prst="rect">
            <a:avLst/>
          </a:prstGeom>
        </p:spPr>
        <p:txBody>
          <a:bodyPr anchor="t" rtlCol="false" tIns="0" lIns="0" bIns="0" rIns="0">
            <a:spAutoFit/>
          </a:bodyPr>
          <a:lstStyle/>
          <a:p>
            <a:pPr algn="l">
              <a:lnSpc>
                <a:spcPts val="1400"/>
              </a:lnSpc>
            </a:pPr>
            <a:r>
              <a:rPr lang="en-US" b="true" sz="1000" spc="10">
                <a:solidFill>
                  <a:srgbClr val="164C78"/>
                </a:solidFill>
                <a:latin typeface="DM Sans Bold"/>
                <a:ea typeface="DM Sans Bold"/>
                <a:cs typeface="DM Sans Bold"/>
                <a:sym typeface="DM Sans Bold"/>
              </a:rPr>
              <a:t>TECHNICAL SKILLS:</a:t>
            </a:r>
          </a:p>
        </p:txBody>
      </p:sp>
      <p:sp>
        <p:nvSpPr>
          <p:cNvPr name="AutoShape 26" id="26"/>
          <p:cNvSpPr/>
          <p:nvPr/>
        </p:nvSpPr>
        <p:spPr>
          <a:xfrm>
            <a:off x="649900" y="7752814"/>
            <a:ext cx="6204556" cy="0"/>
          </a:xfrm>
          <a:prstGeom prst="line">
            <a:avLst/>
          </a:prstGeom>
          <a:ln cap="flat" w="19050">
            <a:solidFill>
              <a:srgbClr val="97BBD9"/>
            </a:solidFill>
            <a:prstDash val="solid"/>
            <a:headEnd type="none" len="sm" w="sm"/>
            <a:tailEnd type="none" len="sm" w="sm"/>
          </a:ln>
        </p:spPr>
      </p:sp>
      <p:sp>
        <p:nvSpPr>
          <p:cNvPr name="TextBox 27" id="27"/>
          <p:cNvSpPr txBox="true"/>
          <p:nvPr/>
        </p:nvSpPr>
        <p:spPr>
          <a:xfrm rot="0">
            <a:off x="652089" y="8407722"/>
            <a:ext cx="1954065" cy="174624"/>
          </a:xfrm>
          <a:prstGeom prst="rect">
            <a:avLst/>
          </a:prstGeom>
        </p:spPr>
        <p:txBody>
          <a:bodyPr anchor="t" rtlCol="false" tIns="0" lIns="0" bIns="0" rIns="0">
            <a:spAutoFit/>
          </a:bodyPr>
          <a:lstStyle/>
          <a:p>
            <a:pPr algn="l">
              <a:lnSpc>
                <a:spcPts val="1400"/>
              </a:lnSpc>
            </a:pPr>
            <a:r>
              <a:rPr lang="en-US" b="true" sz="1000" spc="10">
                <a:solidFill>
                  <a:srgbClr val="164C78"/>
                </a:solidFill>
                <a:latin typeface="DM Sans Bold"/>
                <a:ea typeface="DM Sans Bold"/>
                <a:cs typeface="DM Sans Bold"/>
                <a:sym typeface="DM Sans Bold"/>
              </a:rPr>
              <a:t>CERTIFICATES:</a:t>
            </a:r>
          </a:p>
        </p:txBody>
      </p:sp>
      <p:sp>
        <p:nvSpPr>
          <p:cNvPr name="AutoShape 28" id="28"/>
          <p:cNvSpPr/>
          <p:nvPr/>
        </p:nvSpPr>
        <p:spPr>
          <a:xfrm>
            <a:off x="677722" y="9305211"/>
            <a:ext cx="6204556" cy="0"/>
          </a:xfrm>
          <a:prstGeom prst="line">
            <a:avLst/>
          </a:prstGeom>
          <a:ln cap="flat" w="19050">
            <a:solidFill>
              <a:srgbClr val="97BBD9"/>
            </a:solidFill>
            <a:prstDash val="solid"/>
            <a:headEnd type="none" len="sm" w="sm"/>
            <a:tailEnd type="none" len="sm" w="sm"/>
          </a:ln>
        </p:spPr>
      </p:sp>
      <p:sp>
        <p:nvSpPr>
          <p:cNvPr name="TextBox 29" id="29"/>
          <p:cNvSpPr txBox="true"/>
          <p:nvPr/>
        </p:nvSpPr>
        <p:spPr>
          <a:xfrm rot="0">
            <a:off x="777544" y="9390936"/>
            <a:ext cx="5924734" cy="405138"/>
          </a:xfrm>
          <a:prstGeom prst="rect">
            <a:avLst/>
          </a:prstGeom>
        </p:spPr>
        <p:txBody>
          <a:bodyPr anchor="t" rtlCol="false" tIns="0" lIns="0" bIns="0" rIns="0">
            <a:spAutoFit/>
          </a:bodyPr>
          <a:lstStyle/>
          <a:p>
            <a:pPr algn="l">
              <a:lnSpc>
                <a:spcPts val="1120"/>
              </a:lnSpc>
            </a:pPr>
            <a:r>
              <a:rPr lang="en-US" sz="800" spc="8">
                <a:solidFill>
                  <a:srgbClr val="262626"/>
                </a:solidFill>
                <a:latin typeface="DM Sans"/>
                <a:ea typeface="DM Sans"/>
                <a:cs typeface="DM Sans"/>
                <a:sym typeface="DM Sans"/>
              </a:rPr>
              <a:t>Data Cleaning | Data Validation | Data Transformation | Exploratory Data Analysis | Statistical Analysis | Data Visualization | Data Modelling | Dashboard Development | KPI Reporting | Business Intelligence | Variance Analysis | Data Reconciliation | Problem Solving</a:t>
            </a:r>
          </a:p>
        </p:txBody>
      </p:sp>
      <p:sp>
        <p:nvSpPr>
          <p:cNvPr name="TextBox 30" id="30"/>
          <p:cNvSpPr txBox="true"/>
          <p:nvPr/>
        </p:nvSpPr>
        <p:spPr>
          <a:xfrm rot="0">
            <a:off x="777544" y="6089654"/>
            <a:ext cx="4489146" cy="134199"/>
          </a:xfrm>
          <a:prstGeom prst="rect">
            <a:avLst/>
          </a:prstGeom>
        </p:spPr>
        <p:txBody>
          <a:bodyPr anchor="t" rtlCol="false" tIns="0" lIns="0" bIns="0" rIns="0">
            <a:spAutoFit/>
          </a:bodyPr>
          <a:lstStyle/>
          <a:p>
            <a:pPr algn="l">
              <a:lnSpc>
                <a:spcPts val="1120"/>
              </a:lnSpc>
            </a:pPr>
            <a:r>
              <a:rPr lang="en-US" sz="800" spc="8" b="true">
                <a:solidFill>
                  <a:srgbClr val="262626"/>
                </a:solidFill>
                <a:latin typeface="DM Sans Bold"/>
                <a:ea typeface="DM Sans Bold"/>
                <a:cs typeface="DM Sans Bold"/>
                <a:sym typeface="DM Sans Bold"/>
              </a:rPr>
              <a:t>Online Learning Platform Analytics using MySQL &amp; Power BI</a:t>
            </a:r>
          </a:p>
        </p:txBody>
      </p:sp>
      <p:sp>
        <p:nvSpPr>
          <p:cNvPr name="TextBox 31" id="31"/>
          <p:cNvSpPr txBox="true"/>
          <p:nvPr/>
        </p:nvSpPr>
        <p:spPr>
          <a:xfrm rot="0">
            <a:off x="813544" y="6204803"/>
            <a:ext cx="6068734" cy="811547"/>
          </a:xfrm>
          <a:prstGeom prst="rect">
            <a:avLst/>
          </a:prstGeom>
        </p:spPr>
        <p:txBody>
          <a:bodyPr anchor="t" rtlCol="false" tIns="0" lIns="0" bIns="0" rIns="0">
            <a:spAutoFit/>
          </a:bodyPr>
          <a:lstStyle/>
          <a:p>
            <a:pPr algn="l" marL="172724" indent="-86362" lvl="1">
              <a:lnSpc>
                <a:spcPts val="1120"/>
              </a:lnSpc>
              <a:buFont typeface="Arial"/>
              <a:buChar char="•"/>
            </a:pPr>
            <a:r>
              <a:rPr lang="en-US" sz="800" spc="8">
                <a:solidFill>
                  <a:srgbClr val="262626"/>
                </a:solidFill>
                <a:latin typeface="DM Sans"/>
                <a:ea typeface="DM Sans"/>
                <a:cs typeface="DM Sans"/>
                <a:sym typeface="DM Sans"/>
              </a:rPr>
              <a:t>Designed and developed an end-to-end analytics solution by creating a normalized relational database (Students, Courses, and Enrollments), developing 15+ business-driven SQL queries using JOINs, CTEs, Subqueries, Window Functions, CASE Statements, and Stored Procedures to derive actionable insights.</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Developed an end-to-end Power BI dashboard for an online learning platform using SQL, DAX, and Power BI to analyze student demographics, course performance, academic outcomes, and business metrics, delivering interactive insights through 5 dashboard pages with dynamic slicers and data visualizations.</a:t>
            </a:r>
          </a:p>
        </p:txBody>
      </p:sp>
      <p:sp>
        <p:nvSpPr>
          <p:cNvPr name="TextBox 32" id="32"/>
          <p:cNvSpPr txBox="true"/>
          <p:nvPr/>
        </p:nvSpPr>
        <p:spPr>
          <a:xfrm rot="0">
            <a:off x="664905" y="9124236"/>
            <a:ext cx="1954065" cy="174624"/>
          </a:xfrm>
          <a:prstGeom prst="rect">
            <a:avLst/>
          </a:prstGeom>
        </p:spPr>
        <p:txBody>
          <a:bodyPr anchor="t" rtlCol="false" tIns="0" lIns="0" bIns="0" rIns="0">
            <a:spAutoFit/>
          </a:bodyPr>
          <a:lstStyle/>
          <a:p>
            <a:pPr algn="l">
              <a:lnSpc>
                <a:spcPts val="1400"/>
              </a:lnSpc>
            </a:pPr>
            <a:r>
              <a:rPr lang="en-US" b="true" sz="1000" spc="10">
                <a:solidFill>
                  <a:srgbClr val="164C78"/>
                </a:solidFill>
                <a:latin typeface="DM Sans Bold"/>
                <a:ea typeface="DM Sans Bold"/>
                <a:cs typeface="DM Sans Bold"/>
                <a:sym typeface="DM Sans Bold"/>
              </a:rPr>
              <a:t>CORE COMPETENCIES:</a:t>
            </a:r>
          </a:p>
        </p:txBody>
      </p:sp>
      <p:sp>
        <p:nvSpPr>
          <p:cNvPr name="TextBox 33" id="33"/>
          <p:cNvSpPr txBox="true"/>
          <p:nvPr/>
        </p:nvSpPr>
        <p:spPr>
          <a:xfrm rot="0">
            <a:off x="817633" y="8661948"/>
            <a:ext cx="5924734" cy="405138"/>
          </a:xfrm>
          <a:prstGeom prst="rect">
            <a:avLst/>
          </a:prstGeom>
        </p:spPr>
        <p:txBody>
          <a:bodyPr anchor="t" rtlCol="false" tIns="0" lIns="0" bIns="0" rIns="0">
            <a:spAutoFit/>
          </a:bodyPr>
          <a:lstStyle/>
          <a:p>
            <a:pPr algn="l" marL="172724" indent="-86362" lvl="1">
              <a:lnSpc>
                <a:spcPts val="1120"/>
              </a:lnSpc>
              <a:buFont typeface="Arial"/>
              <a:buChar char="•"/>
            </a:pPr>
            <a:r>
              <a:rPr lang="en-US" sz="800" spc="8">
                <a:solidFill>
                  <a:srgbClr val="262626"/>
                </a:solidFill>
                <a:latin typeface="DM Sans"/>
                <a:ea typeface="DM Sans"/>
                <a:cs typeface="DM Sans"/>
                <a:sym typeface="DM Sans"/>
              </a:rPr>
              <a:t>Introduction to Data Analytics - IBM | Coursera</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Workday Human Capital Management for Business Users | Coursera</a:t>
            </a:r>
          </a:p>
          <a:p>
            <a:pPr algn="l" marL="172724" indent="-86362" lvl="1">
              <a:lnSpc>
                <a:spcPts val="1120"/>
              </a:lnSpc>
              <a:buFont typeface="Arial"/>
              <a:buChar char="•"/>
            </a:pPr>
            <a:r>
              <a:rPr lang="en-US" sz="800" spc="8">
                <a:solidFill>
                  <a:srgbClr val="262626"/>
                </a:solidFill>
                <a:latin typeface="DM Sans"/>
                <a:ea typeface="DM Sans"/>
                <a:cs typeface="DM Sans"/>
                <a:sym typeface="DM Sans"/>
              </a:rPr>
              <a:t>Workday Payroll for Business Users | Coursera</a:t>
            </a:r>
          </a:p>
        </p:txBody>
      </p:sp>
      <p:sp>
        <p:nvSpPr>
          <p:cNvPr name="AutoShape 34" id="34"/>
          <p:cNvSpPr/>
          <p:nvPr/>
        </p:nvSpPr>
        <p:spPr>
          <a:xfrm>
            <a:off x="664905" y="8585748"/>
            <a:ext cx="6204556" cy="0"/>
          </a:xfrm>
          <a:prstGeom prst="line">
            <a:avLst/>
          </a:prstGeom>
          <a:ln cap="flat" w="19050">
            <a:solidFill>
              <a:srgbClr val="97BBD9"/>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DAHN2eX3tPU</dc:identifier>
  <dcterms:modified xsi:type="dcterms:W3CDTF">2011-08-01T06:04:30Z</dcterms:modified>
  <cp:revision>1</cp:revision>
  <dc:title>Eleanor Fitzgerald</dc:title>
</cp:coreProperties>
</file>